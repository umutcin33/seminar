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2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67" r:id="rId30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Playfair Display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EBCDD0-EFB2-41CA-A747-DC1F11194882}">
  <a:tblStyle styleId="{F5EBCDD0-EFB2-41CA-A747-DC1F1119488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PlayfairDisplay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PlayfairDisplay-italic.fntdata"/><Relationship Id="rId23" Type="http://schemas.openxmlformats.org/officeDocument/2006/relationships/font" Target="fonts/PlayfairDis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PlayfairDisplay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  <Relationship Id="rId30" Type="http://schemas.openxmlformats.org/officeDocument/2006/relationships/slide" Target="slides/slide12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5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10.png"/><Relationship Id="rId9" Type="http://schemas.openxmlformats.org/officeDocument/2006/relationships/image" Target="../media/image_sparkle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4517628"/>
            <a:ext cx="330517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43000" y="1721197"/>
            <a:ext cx="108013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369A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LLM-gestützte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369A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statische Codeanalyse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43000" y="3290738"/>
            <a:ext cx="10287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Empirische Fallstudie zu Möglichkeiten und Grenzen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43000" y="4679450"/>
            <a:ext cx="141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Umut Ulaş</a:t>
            </a:r>
            <a:r>
              <a:rPr b="1" lang="en-US" sz="15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1800225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Das aktuelle Problem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381750" y="1800225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Meine These &amp; Ziel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47750" y="2276475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KI-Agenten schreiben heute massenhaft Code. Die Frage ist: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Können wir diesem Code vertrauen?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47750" y="3472457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LLMs versprechen Hilfe bei der Fehlersuche (statische Analyse).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47750" y="4333279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Aber: Sind LLMs wirklich zuverlässig? Oder machen sie selbst Fehler?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0" y="2276475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These: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Ein LLM ist kein allwissendes Orakel. Es ist ein Textleser, der Fehler macht.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0" y="3137296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Ziel: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Ich habe diese Schwächen in einem Labor-Experiment mit echtem Code gemessen.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233362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352960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4390429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381750" y="233362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381750" y="319444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Einleitung &amp; Motivation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762000" y="130492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762000" y="1490067"/>
            <a:ext cx="10668000" cy="716160"/>
          </a:xfrm>
          <a:prstGeom prst="roundRect">
            <a:avLst>
              <a:gd fmla="val 1064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428750" y="1680567"/>
            <a:ext cx="9810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RQ1 (Determinismus):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Gibt das Modell immer dieselbe Antwort bei gleichen Bedingungen?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762000" y="1490067"/>
            <a:ext cx="38100" cy="7161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762000" y="2444353"/>
            <a:ext cx="10668000" cy="716160"/>
          </a:xfrm>
          <a:prstGeom prst="roundRect">
            <a:avLst>
              <a:gd fmla="val 1064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428750" y="2634853"/>
            <a:ext cx="9810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RQ2 (False Positives):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Erfindet das Modell Fehler, wo gar keine sind (Halluzination)?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62000" y="2444353"/>
            <a:ext cx="38100" cy="7161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762000" y="3398639"/>
            <a:ext cx="10668000" cy="716160"/>
          </a:xfrm>
          <a:prstGeom prst="roundRect">
            <a:avLst>
              <a:gd fmla="val 1064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428750" y="3589139"/>
            <a:ext cx="9810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RQ3 (Prompt-Sensitivität):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Wie stark ändert der Prompt (naiv vs. strukturiert) das Ergebnis?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762000" y="3398639"/>
            <a:ext cx="38100" cy="7161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762000" y="4352925"/>
            <a:ext cx="10668000" cy="716160"/>
          </a:xfrm>
          <a:prstGeom prst="roundRect">
            <a:avLst>
              <a:gd fmla="val 1064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428750" y="4543425"/>
            <a:ext cx="9810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RQ4 (Skalierung):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Hilft "Code Slicing" (Code kürzen) bei großen Dateien?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762000" y="4352925"/>
            <a:ext cx="38100" cy="7161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762000" y="5307210"/>
            <a:ext cx="10668000" cy="1051321"/>
          </a:xfrm>
          <a:prstGeom prst="roundRect">
            <a:avLst>
              <a:gd fmla="val 724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1428750" y="5497710"/>
            <a:ext cx="9810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RQ5 (Maschinensemantik):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Versteht das Modell Computer-Mathematik (Overflows) oder nur Schul-Mathematik?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762000" y="5307210"/>
            <a:ext cx="38100" cy="1051321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1694854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2649140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3603426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600" y="45577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0600" y="5511998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762000" y="261342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Die 5 Forschungsfragen (RQs)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62000" y="994767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Versuchsaufbau (Methodik)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762000" y="130492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card_ki"/>
          <p:cNvSpPr/>
          <p:nvPr/>
        </p:nvSpPr>
        <p:spPr>
          <a:xfrm>
            <a:off x="762000" y="1470000"/>
            <a:ext cx="5048250" cy="1640000"/>
          </a:xfrm>
          <a:prstGeom prst="roundRect">
            <a:avLst>
              <a:gd name="adj" fmla="val 4200"/>
            </a:avLst>
          </a:prstGeom>
          <a:solidFill>
            <a:srgbClr val="F6F8FB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2" name="card_test"/>
          <p:cNvSpPr/>
          <p:nvPr/>
        </p:nvSpPr>
        <p:spPr>
          <a:xfrm>
            <a:off x="6381750" y="1470000"/>
            <a:ext cx="5048250" cy="1640000"/>
          </a:xfrm>
          <a:prstGeom prst="roundRect">
            <a:avLst>
              <a:gd name="adj" fmla="val 4200"/>
            </a:avLst>
          </a:prstGeom>
          <a:solidFill>
            <a:srgbClr val="F6F8FB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3" name="card_c"/>
          <p:cNvSpPr/>
          <p:nvPr/>
        </p:nvSpPr>
        <p:spPr>
          <a:xfrm>
            <a:off x="762000" y="3320000"/>
            <a:ext cx="5048250" cy="2820000"/>
          </a:xfrm>
          <a:prstGeom prst="roundRect">
            <a:avLst>
              <a:gd name="adj" fmla="val 4200"/>
            </a:avLst>
          </a:prstGeom>
          <a:solidFill>
            <a:srgbClr val="F6F8FB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4" name="card_java"/>
          <p:cNvSpPr/>
          <p:nvPr/>
        </p:nvSpPr>
        <p:spPr>
          <a:xfrm>
            <a:off x="6381750" y="3320000"/>
            <a:ext cx="5048250" cy="2820000"/>
          </a:xfrm>
          <a:prstGeom prst="roundRect">
            <a:avLst>
              <a:gd name="adj" fmla="val 4200"/>
            </a:avLst>
          </a:prstGeom>
          <a:solidFill>
            <a:srgbClr val="F6F8FB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5" name="h_ki"/>
          <p:cNvSpPr txBox="1"/>
          <p:nvPr/>
        </p:nvSpPr>
        <p:spPr>
          <a:xfrm>
            <a:off x="982000" y="1600000"/>
            <a:ext cx="4600000" cy="34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1" i="0" lang="de-DE" sz="1500" u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Das KI-Modell</a:t>
            </a:r>
            <a:endParaRPr/>
          </a:p>
        </p:txBody>
      </p:sp>
      <p:sp>
        <p:nvSpPr>
          <p:cNvPr id="306" name="b_ki"/>
          <p:cNvSpPr txBox="1"/>
          <p:nvPr/>
        </p:nvSpPr>
        <p:spPr>
          <a:xfrm>
            <a:off x="982000" y="2010000"/>
            <a:ext cx="4600000" cy="105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b="1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Modell:  </a:t>
            </a:r>
            <a:r>
              <a:rPr b="0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Groq llama-3.3-70b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b="1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Regel:  </a:t>
            </a:r>
            <a:r>
              <a:rPr b="0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temperature = 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b="1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Input:  </a:t>
            </a:r>
            <a:r>
              <a:rPr b="0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reiner Rohtext (kein AST, keine Tools)</a:t>
            </a:r>
            <a:endParaRPr/>
          </a:p>
        </p:txBody>
      </p:sp>
      <p:sp>
        <p:nvSpPr>
          <p:cNvPr id="307" name="h_test"/>
          <p:cNvSpPr txBox="1"/>
          <p:nvPr/>
        </p:nvSpPr>
        <p:spPr>
          <a:xfrm>
            <a:off x="6601750" y="1600000"/>
            <a:ext cx="4600000" cy="34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1" i="0" lang="de-DE" sz="1500" u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Der Test-Code</a:t>
            </a:r>
            <a:endParaRPr/>
          </a:p>
        </p:txBody>
      </p:sp>
      <p:sp>
        <p:nvSpPr>
          <p:cNvPr id="308" name="b_test"/>
          <p:cNvSpPr txBox="1"/>
          <p:nvPr/>
        </p:nvSpPr>
        <p:spPr>
          <a:xfrm>
            <a:off x="6601750" y="2010000"/>
            <a:ext cx="4600000" cy="105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b="1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Sprachen:  </a:t>
            </a:r>
            <a:r>
              <a:rPr b="0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kleine C- &amp; Java-Dateien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b="1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Inhalt:  </a:t>
            </a:r>
            <a:r>
              <a:rPr b="0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echte Bugs + Köder („Fallen“)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b="1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Läufe:  </a:t>
            </a:r>
            <a:r>
              <a:rPr b="0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jeder Test 10× wiederholt</a:t>
            </a:r>
            <a:endParaRPr/>
          </a:p>
        </p:txBody>
      </p:sp>
      <p:sp>
        <p:nvSpPr>
          <p:cNvPr id="309" name="h_c"/>
          <p:cNvSpPr txBox="1"/>
          <p:nvPr/>
        </p:nvSpPr>
        <p:spPr>
          <a:xfrm>
            <a:off x="982000" y="3450000"/>
            <a:ext cx="4600000" cy="34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1" i="0" lang="de-DE" sz="1400" u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C — Buffer Overflow</a:t>
            </a:r>
            <a:endParaRPr/>
          </a:p>
        </p:txBody>
      </p:sp>
      <p:sp>
        <p:nvSpPr>
          <p:cNvPr id="310" name="code_c"/>
          <p:cNvSpPr txBox="1"/>
          <p:nvPr/>
        </p:nvSpPr>
        <p:spPr>
          <a:xfrm>
            <a:off x="962000" y="3870000"/>
            <a:ext cx="4760000" cy="145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20"/>
              </a:spcAft>
              <a:buNone/>
            </a:pP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void process_data(const char *user_input) {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20"/>
              </a:spcAft>
              <a:buNone/>
            </a:pP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char buffer[50];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20"/>
              </a:spcAft>
              <a:buNone/>
            </a:pPr>
            <a:r>
              <a:rPr b="1" i="0" lang="de-DE" sz="1050" u="none" strike="noStrike">
                <a:solidFill>
                  <a:srgbClr val="CF4141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strcpy</a:t>
            </a: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(buffer, user_input);</a:t>
            </a:r>
            <a:r>
              <a:rPr b="0" i="0" lang="de-DE" sz="1050" u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// keine Längenprüfung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20"/>
              </a:spcAft>
              <a:buNone/>
            </a:pP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}</a:t>
            </a:r>
            <a:endParaRPr/>
          </a:p>
        </p:txBody>
      </p:sp>
      <p:sp>
        <p:nvSpPr>
          <p:cNvPr id="311" name="cap_c"/>
          <p:cNvSpPr txBox="1"/>
          <p:nvPr/>
        </p:nvSpPr>
        <p:spPr>
          <a:xfrm>
            <a:off x="982000" y="5470000"/>
            <a:ext cx="4600000" cy="60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0" i="1" lang="de-DE" sz="100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 xml:space="preserve">→ Buffer Overflow (CWE-120): user_input kann länger als 50 Byte sein.</a:t>
            </a:r>
            <a:endParaRPr/>
          </a:p>
        </p:txBody>
      </p:sp>
      <p:sp>
        <p:nvSpPr>
          <p:cNvPr id="312" name="h_java"/>
          <p:cNvSpPr txBox="1"/>
          <p:nvPr/>
        </p:nvSpPr>
        <p:spPr>
          <a:xfrm>
            <a:off x="6601750" y="3450000"/>
            <a:ext cx="4600000" cy="34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1" i="0" lang="de-DE" sz="1400" u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Java — Auth-Bypass &amp; Köder</a:t>
            </a:r>
            <a:endParaRPr/>
          </a:p>
        </p:txBody>
      </p:sp>
      <p:sp>
        <p:nvSpPr>
          <p:cNvPr id="313" name="code_java"/>
          <p:cNvSpPr txBox="1"/>
          <p:nvPr/>
        </p:nvSpPr>
        <p:spPr>
          <a:xfrm>
            <a:off x="6581750" y="3870000"/>
            <a:ext cx="4780000" cy="145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20"/>
              </a:spcAft>
              <a:buNone/>
            </a:pP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String dummyPassword = "default_placeholder";</a:t>
            </a:r>
            <a:r>
              <a:rPr b="0" i="0" lang="de-DE" sz="1050" u="none" strike="noStrike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// Köder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20"/>
              </a:spcAft>
              <a:buNone/>
            </a:pP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if (actualRole </a:t>
            </a:r>
            <a:r>
              <a:rPr b="1" i="0" lang="de-DE" sz="1050" u="none" strike="noStrike">
                <a:solidFill>
                  <a:srgbClr val="CF4141"/>
                </a:solidFill>
                <a:latin typeface="Consolas"/>
                <a:ea typeface="Consolas"/>
                <a:cs typeface="Consolas"/>
                <a:sym typeface="Consolas"/>
              </a:rPr>
              <a:t xml:space="preserve">==</a:t>
            </a: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 providedRole)</a:t>
            </a:r>
            <a:r>
              <a:rPr b="0" i="0" lang="de-DE" sz="1050" u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// statt .equals()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20"/>
              </a:spcAft>
              <a:buNone/>
            </a:pP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return true;</a:t>
            </a:r>
            <a:r>
              <a:rPr b="0" i="0" lang="de-DE" sz="1050" u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// vergleicht Referenzen</a:t>
            </a:r>
            <a:endParaRPr/>
          </a:p>
        </p:txBody>
      </p:sp>
      <p:sp>
        <p:nvSpPr>
          <p:cNvPr id="314" name="cap_java"/>
          <p:cNvSpPr txBox="1"/>
          <p:nvPr/>
        </p:nvSpPr>
        <p:spPr>
          <a:xfrm>
            <a:off x="6601750" y="5470000"/>
            <a:ext cx="4600000" cy="60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0" i="1" lang="de-DE" sz="100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 xml:space="preserve">→ Auth-Bypass (CWE-597); dummyPassword = Falle für Halluzination (RQ2).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1047750" y="1800225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Der Test: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10-mal exakt derselbe Code, derselbe Prompt, Temp=0.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047750" y="2661046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 Ergebnis: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 </a:t>
            </a:r>
            <a:r>
              <a:rPr b="0" i="0" lang="en-US" sz="1650" u="none" cap="none" strike="noStrike">
                <a:solidFill>
                  <a:srgbClr val="B91C1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 von 10 Fällen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gibt das Modell unterschiedliche Fehler-Kategorien (CWE-Codes) aus.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47750" y="3857029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Was bedeutet das?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Das Modell findet den Fehler im Code zwar immer, aber bei der formalen Einordnung "würfelt" es.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47750" y="5053012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Fazit: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LLMs sind für eine normierte, automatische Analyse zu instabil.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62000" y="185737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62000" y="271819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62000" y="3914179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62000" y="511016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62000" y="571500"/>
            <a:ext cx="1120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RQ1: Nicht-Determinismus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762000" y="130492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h_out"/>
          <p:cNvSpPr txBox="1"/>
          <p:nvPr/>
        </p:nvSpPr>
        <p:spPr>
          <a:xfrm>
            <a:off x="6250000" y="1800000"/>
            <a:ext cx="5200000" cy="36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30"/>
              </a:spcAft>
              <a:buNone/>
            </a:pPr>
            <a:r>
              <a:rPr b="1" i="0" lang="de-DE" sz="1350" u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Ausgabe — gleiche Zeile, anderes CWE</a:t>
            </a:r>
            <a:endParaRPr/>
          </a:p>
        </p:txBody>
      </p:sp>
      <p:sp>
        <p:nvSpPr>
          <p:cNvPr id="402" name="oc_3"/>
          <p:cNvSpPr/>
          <p:nvPr/>
        </p:nvSpPr>
        <p:spPr>
          <a:xfrm>
            <a:off x="6250000" y="2280000"/>
            <a:ext cx="5200000" cy="1080000"/>
          </a:xfrm>
          <a:prstGeom prst="roundRect">
            <a:avLst>
              <a:gd name="adj" fmla="val 5200"/>
            </a:avLst>
          </a:prstGeom>
          <a:solidFill>
            <a:srgbClr val="F6F8FB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3" name="lbl"/>
          <p:cNvSpPr txBox="1"/>
          <p:nvPr/>
        </p:nvSpPr>
        <p:spPr>
          <a:xfrm>
            <a:off x="6470000" y="2410000"/>
            <a:ext cx="4800000" cy="26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30"/>
              </a:spcAft>
              <a:buNone/>
            </a:pPr>
            <a:r>
              <a:rPr b="1" i="0" lang="de-DE" sz="950" spc="12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 xml:space="preserve">LAUF 3</a:t>
            </a:r>
            <a:endParaRPr/>
          </a:p>
        </p:txBody>
      </p:sp>
      <p:sp>
        <p:nvSpPr>
          <p:cNvPr id="404" name="txt"/>
          <p:cNvSpPr txBox="1"/>
          <p:nvPr/>
        </p:nvSpPr>
        <p:spPr>
          <a:xfrm>
            <a:off x="6470000" y="2700000"/>
            <a:ext cx="4780000" cy="60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0" i="0" lang="de-DE" sz="120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Zeile 22 · </a:t>
            </a:r>
            <a:r>
              <a:rPr b="0" i="0" lang="de-DE" sz="120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'=='</a:t>
            </a:r>
            <a:r>
              <a:rPr b="0" i="0" lang="de-DE" sz="120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 statt </a:t>
            </a:r>
            <a:r>
              <a:rPr b="0" i="0" lang="de-DE" sz="120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.equals()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30"/>
              </a:spcAft>
              <a:buNone/>
            </a:pPr>
            <a:r>
              <a:rPr b="0" i="0" lang="de-DE" sz="12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→ </a:t>
            </a:r>
            <a:r>
              <a:rPr b="1" i="0" lang="de-DE" sz="1300" u="none" strike="noStrike">
                <a:solidFill>
                  <a:srgbClr val="CF4141"/>
                </a:solidFill>
                <a:latin typeface="Consolas"/>
                <a:ea typeface="Consolas"/>
                <a:cs typeface="Consolas"/>
                <a:sym typeface="Consolas"/>
              </a:rPr>
              <a:t xml:space="preserve">CWE-304</a:t>
            </a:r>
            <a:r>
              <a:rPr b="0" i="1" lang="de-DE" sz="105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 xml:space="preserve">  (Missing Auth Step)</a:t>
            </a:r>
            <a:endParaRPr/>
          </a:p>
        </p:txBody>
      </p:sp>
      <p:sp>
        <p:nvSpPr>
          <p:cNvPr id="405" name="oc_7"/>
          <p:cNvSpPr/>
          <p:nvPr/>
        </p:nvSpPr>
        <p:spPr>
          <a:xfrm>
            <a:off x="6250000" y="3500000"/>
            <a:ext cx="5200000" cy="1080000"/>
          </a:xfrm>
          <a:prstGeom prst="roundRect">
            <a:avLst>
              <a:gd name="adj" fmla="val 5200"/>
            </a:avLst>
          </a:prstGeom>
          <a:solidFill>
            <a:srgbClr val="F6F8FB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6" name="lbl"/>
          <p:cNvSpPr txBox="1"/>
          <p:nvPr/>
        </p:nvSpPr>
        <p:spPr>
          <a:xfrm>
            <a:off x="6470000" y="3630000"/>
            <a:ext cx="4800000" cy="26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30"/>
              </a:spcAft>
              <a:buNone/>
            </a:pPr>
            <a:r>
              <a:rPr b="1" i="0" lang="de-DE" sz="950" spc="12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 xml:space="preserve">LAUF 7</a:t>
            </a:r>
            <a:endParaRPr/>
          </a:p>
        </p:txBody>
      </p:sp>
      <p:sp>
        <p:nvSpPr>
          <p:cNvPr id="407" name="txt"/>
          <p:cNvSpPr txBox="1"/>
          <p:nvPr/>
        </p:nvSpPr>
        <p:spPr>
          <a:xfrm>
            <a:off x="6470000" y="3920000"/>
            <a:ext cx="4780000" cy="60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0" i="0" lang="de-DE" sz="120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Zeile 22 · </a:t>
            </a:r>
            <a:r>
              <a:rPr b="0" i="0" lang="de-DE" sz="120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'=='</a:t>
            </a:r>
            <a:r>
              <a:rPr b="0" i="0" lang="de-DE" sz="120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 statt </a:t>
            </a:r>
            <a:r>
              <a:rPr b="0" i="0" lang="de-DE" sz="120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.equals()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30"/>
              </a:spcAft>
              <a:buNone/>
            </a:pPr>
            <a:r>
              <a:rPr b="0" i="0" lang="de-DE" sz="12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→ </a:t>
            </a:r>
            <a:r>
              <a:rPr b="1" i="0" lang="de-DE" sz="1300" u="none" strike="noStrike">
                <a:solidFill>
                  <a:srgbClr val="CF4141"/>
                </a:solidFill>
                <a:latin typeface="Consolas"/>
                <a:ea typeface="Consolas"/>
                <a:cs typeface="Consolas"/>
                <a:sym typeface="Consolas"/>
              </a:rPr>
              <a:t xml:space="preserve">CWE-297</a:t>
            </a:r>
            <a:r>
              <a:rPr b="0" i="1" lang="de-DE" sz="105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 xml:space="preserve">  (Cert Host Mismatch)</a:t>
            </a:r>
            <a:endParaRPr/>
          </a:p>
        </p:txBody>
      </p:sp>
      <p:sp>
        <p:nvSpPr>
          <p:cNvPr id="408" name="cap_out"/>
          <p:cNvSpPr txBox="1"/>
          <p:nvPr/>
        </p:nvSpPr>
        <p:spPr>
          <a:xfrm>
            <a:off x="6250000" y="4720000"/>
            <a:ext cx="5200000" cy="76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30"/>
              </a:spcAft>
              <a:buNone/>
            </a:pPr>
            <a:r>
              <a:rPr b="0" i="1" lang="de-DE" sz="108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 xml:space="preserve">Gleiche Zeile, gleicher Bug — aber wechselndes CWE. Korrekt wäre </a:t>
            </a:r>
            <a:r>
              <a:rPr b="1" i="1" lang="de-DE" sz="1080" u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 xml:space="preserve">CWE-597</a:t>
            </a:r>
            <a:r>
              <a:rPr b="0" i="1" lang="de-DE" sz="108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 xml:space="preserve"> (in 0/10 Läufen).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1047750" y="1651396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Die Falle: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Eine nutzlose Variable namens dummyPassword im Code. (Ein normales Tool ignoriert das).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1047750" y="2847379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 Ergebnis: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 </a:t>
            </a:r>
            <a:r>
              <a:rPr b="0" i="0" lang="en-US" sz="1650" u="none" cap="none" strike="noStrike">
                <a:solidFill>
                  <a:srgbClr val="B91C1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 von 10 Läufen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schlägt das Modell Alarm: "Kritische Sicherheitslücke! Hardcoded Password!"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047750" y="4043362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Die Lektion: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Ein LLM liest Code wie einen englischen Text. Das Wort "Password" reicht aus, damit es in Panik gerät.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047750" y="5239345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Fazit: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Modelle erfinden Fehler (False Positives), weil sie sich von natürlicher Sprache im Code täuschen lassen.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762000" y="170854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62000" y="2904529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62000" y="410051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62000" y="529649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762000" y="422671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RQ2: Halluzination (False Positives)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762000" y="1156096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00225"/>
            <a:ext cx="5048250" cy="431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00225"/>
            <a:ext cx="5048250" cy="43178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1152525" y="2190750"/>
            <a:ext cx="44805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Strukturierter Prompt (Streng)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152525" y="2667000"/>
            <a:ext cx="42672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"Antworte nur im JSON-Format und nenne den offiziellen CWE-Code."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772275" y="2190750"/>
            <a:ext cx="44805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Naiver Prompt (Frei)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772275" y="2667000"/>
            <a:ext cx="42672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"Beschreibe einfach die Fehler im Code als Text."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438275" y="3670696"/>
            <a:ext cx="3981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Die Halluzinationen nehmen extrem zu.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438275" y="4196357"/>
            <a:ext cx="3981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Die Instabilität steigt (8/10).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1438275" y="4722018"/>
            <a:ext cx="39814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Zwang führt zu schlechterer Analysequalität.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7058025" y="3670696"/>
            <a:ext cx="39814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Viel robuster (0 False Positives bei der Falle).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7058025" y="4531518"/>
            <a:ext cx="39814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ABER: Keine Zeilennummern, kein Standard. Für eine automatische Pipeline unbrauchbar.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1152525" y="372784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1152525" y="425350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152525" y="477916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772275" y="372784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772275" y="458866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RQ3: Prompt-Sensitivität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762000" y="130492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047750" y="1651396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 Problem: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Kleine Dateien sind leicht. Was passiert bei einem echten Projekt (2000 Zeilen)?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047750" y="2847379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Vollkontext: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Das LLM bekommt den ganzen Code. Ergebnis: Es findet den versteckten Bug in </a:t>
            </a:r>
            <a:r>
              <a:rPr b="0" i="0" lang="en-US" sz="1650" u="none" cap="none" strike="noStrike">
                <a:solidFill>
                  <a:srgbClr val="B91C1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 von 5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Versuchen.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1047750" y="4043362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Slicing (Code kürzen):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Ich schneide den Code auf 13% zusammen (nur die relevanten Teile). Ergebnis: </a:t>
            </a:r>
            <a:r>
              <a:rPr b="0" i="0" lang="en-US" sz="1650" u="none" cap="none" strike="noStrike">
                <a:solidFill>
                  <a:srgbClr val="15803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von 5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Treffer!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047750" y="5239345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Fazit: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"Lost in the middle" ist real. Ein LLM braucht Fokus. Ein großes Kontextfenster allein löst keine Probleme.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762000" y="170854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762000" y="2904529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762000" y="410051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762000" y="529649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762000" y="422671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RQ4: Skalierung &amp; Slicing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762000" y="1156096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70124"/>
            <a:ext cx="5048250" cy="1082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2195" y="1765399"/>
            <a:ext cx="3827859" cy="49187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1047750" y="2838300"/>
            <a:ext cx="4983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Die Frage: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Welche Zahlen ergeben im Computer (8-Bit) quadriert 33? (Es gibt exakt 4 Lösungen).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1047750" y="3699123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Klassisches Tool (Z3 Solver):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Berechnet das in </a:t>
            </a:r>
            <a:r>
              <a:rPr b="0" i="0" lang="en-US" sz="1650" u="none" cap="none" strike="noStrike">
                <a:solidFill>
                  <a:srgbClr val="15803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0,014 Sekunden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fehlerfrei.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1047750" y="4559944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LLM (10 Läufe):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650" u="none" cap="none" strike="noStrike">
                <a:solidFill>
                  <a:srgbClr val="B91C1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 von 10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korrekt. Es sagt "Gibt es nicht", rät falsche Zahlen oder stürzt in einer Endlosschleife ab.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1047750" y="5755927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Fazit: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Ein LLM kann lesen, aber nicht formell rechnen.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762000" y="289545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762000" y="3756273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762000" y="4617094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762000" y="581307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762000" y="241399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RQ5: Maschinensemantik (Der Härtetest)</a:t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762000" y="974824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/>
          <p:nvPr/>
        </p:nvSpPr>
        <p:spPr>
          <a:xfrm>
            <a:off x="762000" y="1800225"/>
            <a:ext cx="10668000" cy="3988593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9" name="Google Shape;249;p22"/>
          <p:cNvGraphicFramePr/>
          <p:nvPr/>
        </p:nvGraphicFramePr>
        <p:xfrm>
          <a:off x="762000" y="1800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{F5EBCDD0-EFB2-41CA-A747-DC1F11194882}</a:tableStyleId>
              </a:tblPr>
              <a:tblGrid>
                <a:gridCol w="2548975"/>
                <a:gridCol w="3519200"/>
                <a:gridCol w="4590300"/>
              </a:tblGrid>
              <a:tr h="79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Eigenschaft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cppcheck (Klassisch)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LLM (Llama-3)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9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Geschwindigkeit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0,08 Sekunden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~1,5 Sekunden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Gefundene Fehler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von 3 (nur Speicherfehler)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von 3 (auch die Signedness)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Verlässlichkeit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 Deterministisch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Instabil &amp; erfindet Fehler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Fazit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Perfekt für Standard-Fehler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Stark im Verstehen, schwach in Mathe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22"/>
          <p:cNvSpPr/>
          <p:nvPr/>
        </p:nvSpPr>
        <p:spPr>
          <a:xfrm>
            <a:off x="766762" y="2566987"/>
            <a:ext cx="2548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3315741" y="2566987"/>
            <a:ext cx="351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6834931" y="2566987"/>
            <a:ext cx="4590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766762" y="3368873"/>
            <a:ext cx="2548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315741" y="3368873"/>
            <a:ext cx="351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834931" y="3368873"/>
            <a:ext cx="4590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766762" y="4170759"/>
            <a:ext cx="2548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3315741" y="4170759"/>
            <a:ext cx="351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6834931" y="4170759"/>
            <a:ext cx="4590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766762" y="4972645"/>
            <a:ext cx="2548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3315741" y="4972645"/>
            <a:ext cx="351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6834931" y="4972645"/>
            <a:ext cx="4590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Vergleich: LLM vs. Traditionell (cppcheck)</a:t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762000" y="130492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00225"/>
            <a:ext cx="3365450" cy="4211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1800225"/>
            <a:ext cx="3365450" cy="4211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800225"/>
            <a:ext cx="3365450" cy="421124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1057275" y="2990850"/>
            <a:ext cx="277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Kein Orakel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1057275" y="3467100"/>
            <a:ext cx="27750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LLMs sind keine Magie. Sie sind gute Textleser, machen aber Flüchtigkeitsfehler und halluzinieren, wenn sie unsicher sind.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4708475" y="2990850"/>
            <a:ext cx="277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Slicing ist Pflicht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4708475" y="3467100"/>
            <a:ext cx="27750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 darf einem LLM nicht einfach 2000 Zeilen Code geben. Man muss den Code vorher filtern (Slicing), sonst verliert es den Fokus.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8359675" y="2990850"/>
            <a:ext cx="277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Die hybride Zukunft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8359675" y="3467100"/>
            <a:ext cx="27750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Die beste Lösung ist Teamwork: Klassische Tools für die Geschwindigkeit + LLM für die Logik + Formale Mathe für die Sicherheit.</a:t>
            </a:r>
            <a:endParaRPr/>
          </a:p>
        </p:txBody>
      </p:sp>
      <p:pic>
        <p:nvPicPr>
          <p:cNvPr descr="image.png" id="278" name="Google Shape;27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95826" y="223837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61301" y="22383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762000" y="571500"/>
            <a:ext cx="1120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Fazit &amp; Die Lösung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762000" y="1304925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1" name="auto_awesome_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6087" y="2290953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1047750" y="1800000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Statische Analyse: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Untersucht den Code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ohne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Ausführung.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400175" y="2650000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Ziel: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Fehler finden, bevor das Programm läuft.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47750" y="3520000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Dynamische Analyse: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Untersucht das Programm während der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Laufzeit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47750" y="4380000"/>
            <a:ext cx="4762500" cy="1340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Unser Fokus: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Ausschließlich die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statische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Analyse. Das LLM liest den reinen Quelltext (Rohtext).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62000" y="185715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114425" y="270715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62000" y="357715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62000" y="443715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62000" y="571500"/>
            <a:ext cx="1120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Hintergrund: Statisch vs. Dynamisch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762000" y="130492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